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731520"/>
          <a:ext cx="96926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88392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製造業 sector faces new carbon tax regulations and stricter environmental compliance requirements. Government policies mandate 30% emission reduction by 2030, requiring immediate action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$500K-1M annually in carbon taxes, plus $200K-400K in compliance costs. Potential penalties up to $500K for non-compliance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Mitigation: Invest in carbon offset programs and energy efficiency upgrades. Implement comprehensive compliance monitoring system. Budget: $200K initial, $150K annually for maintenance and monitoring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Shift to green technology may disrupt traditional 製造業 markets. Consumer preferences increasingly favor sustainable products, threatening market share of conventional offerings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$2M-5M revenue risk over next 3 years. Market share decline of 15-25% if no action taken. Additional R&amp;D costs of $1.5M-3M required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Mitigation: Develop green product lines and invest in sustainable technology R&amp;D. Establish partnerships with green tech suppliers. Budget: $1M initial investment, $500K annually for R&amp;D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88392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Market
Disruption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Growing public awareness of climate issues increases scrutiny on 製造業 companies. Negative media coverage of environmental practices can damage brand value significantly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$1M-3M in potential brand value loss. Customer churn risk of 10-20%. Increased marketing costs of $300K-600K to rebuild reputation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Mitigation: Implement transparent sustainability reporting and engage in proactive environmental initiatives. Develop comprehensive ESG communication strategy. Budget: $400K for reporting systems, $200K annually for communications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8392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Reputation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Increasing climate-related lawsuits targeting high-emission industries. Regulatory enforcement actions and shareholder activism on the rise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$500K-2M in potential legal costs and settlements. Increased insurance premiums of $100K-300K annually. Risk of operational restrictions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Mitigation: Strengthen legal compliance framework and engage with stakeholders proactively. Establish climate risk management protocols. Budget: $300K for legal framework, $150K annually for compliance monitoring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Physical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Acute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Extreme weather
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Extreme weather events including floods, storms, and heatwaves affecting 製造業 operations. Increased frequency of natural disasters disrupts supply chains and damages facilities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$300K-800K per event in direct damages. Business interruption costs of $200K-500K per event. Insurance claims may cover only 60-70% of losses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Strengthen facility resilience with upgraded infrastructure. Implement emergency response protocols and business continuity plans. Budget: $500K for infrastructure upgrades, $100K annually for maintenance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Chronic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Changing weather
patterns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Rising temperatures and changing precipitation patterns impacting 製造業 supply chain. Water scarcity and heat stress affecting operations and agricultural inputs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Impact: $1M-3M annually in increased operational costs. Supply chain disruptions costing $500K-1.5M per year. Reduced productivity due to heat stress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Mitigation: Diversify supply sources geographically and invest in climate-resilient infrastructure. Develop water conservation and heat management systems. Budget: $800K initial investment, $300K annually for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Benefits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Resource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Production process
efficiency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Implement energy-efficient processes and waste reduction systems in 製造業 operations. Upgrade to high-efficiency equipment and optimize production workflows to minimize resource consumption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$400K-600K annual savings in energy costs. Reduced material waste saving $200K-400K annually. Lower operational expenses improving profit margins by 5-8%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Upgrade equipment and implement process optimization systems. Install energy monitoring and management systems. Budget: $1.5M initial investment, payback period 2-3 years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Energy
Source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Use of lower-emission
sources of energy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Transition to renewable energy sources including solar and wind power for 製造業 facilities. Reduce dependence on fossil fuels and achieve carbon neutrality goals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$200K-400K annual savings in energy costs. Long-term price stability reducing energy cost volatility. Potential carbon credit revenue of $50K-150K annually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Solar panel installation and wind power infrastructure. Energy storage systems and grid integration. Budget: $2M initial investment, payback period 5-7 years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 Opportunities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Market Strategy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Products &amp;
Services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Development of
low emission goods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Develop sustainable 製造業 products for growing green market. Create eco-friendly alternatives that meet consumer demand for environmentally responsible options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$5M-10M new revenue from green product lines over 3 years. Market share growth of 10-20% in sustainable segment. Premium pricing potential of 15-25%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R&amp;D for sustainable product development and marketing campaigns. Production line modifications and certification processes. Budget: $3M initial investment, $1M annually for R&amp;D and marketing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Markets &amp;
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Access to new
markets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Long-term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Expand 製造業 business to climate-resilient regions and emerging markets. Diversify geographic presence to reduce climate risk 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Financial Benefit: $3M-7M new revenue from market expansion over 5 years. Reduced climate risk through geographic diversification. Access to new customer segments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Investment: Market entry and setup costs. Local partnerships and distribution networks. Budget: $2M initial investment, $500K annually for operations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5097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914400"/>
                <a:gridCol w="228600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Metrics &amp; 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Performance Indicators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Metric
Category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Target
Timeframe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Current Progress
&amp; Status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Financial
Linkage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Action Plan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GHG Emissions
(Scope 1, 2,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Emission Reduction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Reduce total emissions by 30% by 2030 (Current: 100.0 tCO2e). Achieve carbon neutrality by 2040 through comprehensive emission reduction strategies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15% reduction achieved through energy efficiency improvements. On track to meet 2030 target with current initiatives. Additional 10% reduction planned through renewable energy transition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Energy efficiency projects, renewable energy adoption, and process optimization. Implement carbon capture technologies where feasible. Budget: $1M for efficiency projects, $2M for renewable energy, $500K for monitoring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Climate-Related
Targets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Water, Waste &amp;
Green Revenue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Increase renewable energy usage to 50% by 2028 and 100% by 2035. Reduce dependence on fossil fuels and achieve energy independence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Progress: 25% renewable energy achieved through solar installations. Wind power projects in planning phase. Grid integration systems being developed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Action Plan: Solar and wind investments, energy storage systems, and grid infrastructure upgrades. Develop long-term energy procurement strategy. Budget: $2M for solar, $1.5M for wind, $800K for storage systems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Systemic Risk Control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Infrastructure &amp; Assurance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Control Area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External Driver /
Requirement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System Gap /
Exposure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Mitigation Protocol
(Soft Infrastructure)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Liability Avoidance /
Cost Benefit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Data Integrity
(Scope 3)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Mandatory 3rd-Party
Verification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Unverified Upstream
Data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Obtain ISO 14001 environmental management certification and other relevant industry standards. Demonstrate commitment to environmental excellence and regulatory compliance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Customer requirements and market expectations. Competitive advantage in B2B markets. Regulatory compliance needs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Gap: Missing documentation and formalized environmental management systems. Lack of certified processes and procedures. Need for staff training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Supply Chain
Integrity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Traceability &amp;
Due Diligence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Tier-2 Visibility
Gap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Enhance visibility into 製造業 supply chain emissions and environmental impacts. Develop comprehensive supplier assessment and monitoring programs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Driver: Regulatory compliance and stakeholder expectations. Risk management and brand protection. Customer transparency requirements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Gap: Limited supplier data and incomplete emissions tracking. Lack of standardized reporting from suppliers. Insufficient monitoring systems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1828800"/>
                <a:gridCol w="2560320"/>
                <a:gridCol w="2286000"/>
                <a:gridCol w="182880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Operational Resilience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Adaptive Capacity (Human &amp; Supply)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Resilience Unit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Physical/Tech
Stressor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Operational Impact
(Downtime Risk)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Adaptation Strategy
(Capacity Building)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Continuity Benefit
(ROI)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Budget
Allocation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Workforce
Adaptation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Thermal Stress /
New Process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Productivity Loss
(-15% Forecast)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Train 製造業 workforce on climate adaptation strategies and resilience planning. Develop skills for managing climate-related disruptions and operational challenges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Climate-related disruptions affecting operations and supply chains. Extreme weather events causing operational delays. Changing regulatory and market conditions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Impact: Operational delays and productivity losses. Increased costs from disruption management. Need for adaptive workforce capabilities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Value Chain
Security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Resource Competition
(Water/Power)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License to Operate
Revocation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Diversify 製造業 supply sources to reduce climate risks and single-point-of-failure vulnerabilities. Build resilient supply network with geographic and supplier diversification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Stressor: Single-source dependency creating vulnerability. Climate risks affecting key suppliers. Supply disruptions from extreme weather events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>Impact: Supply disruptions causing production delays. Increased costs from emergency sourcing. Risk of customer service failures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