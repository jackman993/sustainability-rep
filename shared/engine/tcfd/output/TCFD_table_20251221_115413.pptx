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1253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751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6649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8361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958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853821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弧形 6">
            <a:extLst>
              <a:ext uri="{FF2B5EF4-FFF2-40B4-BE49-F238E27FC236}">
                <a16:creationId xmlns:a16="http://schemas.microsoft.com/office/drawing/2014/main" id="{4CA5A910-571F-75C2-BF35-26BA8FFDDC31}"/>
              </a:ext>
            </a:extLst>
          </p:cNvPr>
          <p:cNvSpPr/>
          <p:nvPr userDrawn="1"/>
        </p:nvSpPr>
        <p:spPr>
          <a:xfrm rot="9078736">
            <a:off x="9967899" y="-3091766"/>
            <a:ext cx="3657368" cy="4548434"/>
          </a:xfrm>
          <a:prstGeom prst="arc">
            <a:avLst>
              <a:gd name="adj1" fmla="val 15204947"/>
              <a:gd name="adj2" fmla="val 21537104"/>
            </a:avLst>
          </a:prstGeom>
          <a:ln w="587375">
            <a:solidFill>
              <a:schemeClr val="accent6">
                <a:lumMod val="20000"/>
                <a:lumOff val="80000"/>
                <a:alpha val="60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菱形 7">
            <a:extLst>
              <a:ext uri="{FF2B5EF4-FFF2-40B4-BE49-F238E27FC236}">
                <a16:creationId xmlns:a16="http://schemas.microsoft.com/office/drawing/2014/main" id="{6DEB5FF7-6D99-88D6-138A-1295A01D10EF}"/>
              </a:ext>
            </a:extLst>
          </p:cNvPr>
          <p:cNvSpPr/>
          <p:nvPr userDrawn="1"/>
        </p:nvSpPr>
        <p:spPr>
          <a:xfrm>
            <a:off x="11656541" y="1886465"/>
            <a:ext cx="280086" cy="337751"/>
          </a:xfrm>
          <a:prstGeom prst="diamond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菱形 8">
            <a:extLst>
              <a:ext uri="{FF2B5EF4-FFF2-40B4-BE49-F238E27FC236}">
                <a16:creationId xmlns:a16="http://schemas.microsoft.com/office/drawing/2014/main" id="{D7130504-BEA1-8D0C-83EB-3140F88CDFA6}"/>
              </a:ext>
            </a:extLst>
          </p:cNvPr>
          <p:cNvSpPr/>
          <p:nvPr userDrawn="1"/>
        </p:nvSpPr>
        <p:spPr>
          <a:xfrm>
            <a:off x="474823" y="5796571"/>
            <a:ext cx="280086" cy="337751"/>
          </a:xfrm>
          <a:prstGeom prst="diamond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4912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3" r:id="rId2"/>
    <p:sldLayoutId id="2147483656" r:id="rId3"/>
    <p:sldLayoutId id="2147483658" r:id="rId4"/>
    <p:sldLayoutId id="2147483659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731520"/>
          <a:ext cx="96926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188720"/>
                <a:gridCol w="822960"/>
                <a:gridCol w="2468880"/>
                <a:gridCol w="2468880"/>
                <a:gridCol w="1920240"/>
              </a:tblGrid>
              <a:tr h="88392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Climate-Related Risks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Financial Impacts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Climate
Change
Related Factor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Impact
Period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Description of Content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Potential Financial Impact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Adaption &amp; Response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883920">
                <a:tc row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Transformation
Risk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Policy and
Regulation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Mandatory food carbon labels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Operating cost increase of €13,594K; Net profit impact -13%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Implement internal carbon pricing (Budget: €500K); Reduce Scope 2 via onsite solar PPAs &amp; RECs (Budget: €2,000K)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83920">
                <a:tc v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Green product
and technology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Competitors offering low-carbon recipes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Potential revenue loss of €1,800K from key clients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Invest in R&amp;D for plant-based ingredients &amp; precision fermentation (Budget: €1,200K); Obtain ISO 14067 &amp; publish product carbon footprints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  <a:tr h="883920">
                <a:tc row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Transformation
Risk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Market
Disruption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83920">
                <a:tc v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Reputation
Risk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Long-term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96926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188720"/>
                <a:gridCol w="822960"/>
                <a:gridCol w="2468880"/>
                <a:gridCol w="2468880"/>
                <a:gridCol w="192024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Physical Risks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Financial Impacts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Climate
Change
Related Factor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Impact
Period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Description of Content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Potential Financial Impact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Adaption &amp; Response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Acute
Risk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Extreme weather
events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Extreme heat waves damaging crops and reducing yield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Asset damage from crop failures est. €2,500K; Increased ingredient costs €4,000K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Invest in water recycling systems (Budget: €1,200K); Diversify ingredient sourcing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Chronic
Risk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Changing weather
patterns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Long-term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Increased frequency of heatwaves affecting worker productivity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Electricity cooling costs increase €800K/year; Estimated productivity loss €1,500K/year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Upgrade to high-efficiency refrigeration (Budget: €3,000K); Improve factory HVAC and insulation (Budget: €2,500K)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96926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188720"/>
                <a:gridCol w="822960"/>
                <a:gridCol w="2468880"/>
                <a:gridCol w="2468880"/>
                <a:gridCol w="192024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Climate Opportunities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Financial Benefits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Climate
Change
Related Factor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Impact
Period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Description of Content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Potential Financial Impact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Adaption &amp; Response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Resource
Efficiency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Production process
efficiency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Packaging light-weighting using recycled materials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Cost savings of €2,500K/year from reduced waste disposal; Material cost reduction of €1,200K/year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Implement ingredient extraction process from waste (Budget: €3,000K); Develop new packaging with min 30% recycled content (Budget: €500K)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Energy
Source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Use of lower-emission
sources of energy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Install on-site solar PV and biogas CHP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Electricity cost savings of €1,800K/year; Avoid EU ETS carbon cost of €300K/year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Sign 10-year renewable PPA for 80% of load (Cost: €0.12/kWh); Install 1.5 MW solar PV and 800kW biogas CHP (Budget: €3,500K)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96926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188720"/>
                <a:gridCol w="822960"/>
                <a:gridCol w="2468880"/>
                <a:gridCol w="2468880"/>
                <a:gridCol w="192024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Climate Opportunities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Market Strategy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Climate
Change
Related Factor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Impact
Period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Description of Content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Potential Financial Impact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Adaption &amp; Response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Products &amp;
Services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Development of
low emission goods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Certified sustainable ingredients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New revenue stream of €2,000K; Market share growth 5%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R&amp;D for plant-based formulations (Budget: €500K); Sustainable sourcing certification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Markets &amp;
Resilience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Access to new
markets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Long-term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Entry into Nordic markets via low-carbon logistics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Expansion of addressable market by €5,000K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Establish green Nordic distribution hub; Logistics emissions tracking system (Budget: €200K)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95097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914400"/>
                <a:gridCol w="2286000"/>
                <a:gridCol w="2286000"/>
                <a:gridCol w="182880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Metrics &amp; Targets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Performance Indicators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Metric
Category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Target
Timeframe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Current Progress
&amp; Status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Financial
Linkage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Action Plan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GHG Emissions
(Scope 1, 2, 3)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Emission Reduction
Targets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Reduce Scope 1&amp;2 emissions 42% by 2030 vs. 2021 baseline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Achieved -8% reduction YTD; Renewable electricity at 35%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Transition manufacturing to 100% renewable energy; Electrify fleet &amp; forklifts (Budget: €750K)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Climate-Related
Targets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Water, Waste &amp;
Green Revenue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Achieve Zero Waste to Landfill for all manufacturing sites by 2027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70% waste currently recycled or recovered; Reduced food waste 15%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Expand anaerobic digestion for organic waste; Optimize packaging materials (Budget: €1,200K)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371600"/>
                <a:gridCol w="1828800"/>
                <a:gridCol w="2560320"/>
                <a:gridCol w="2286000"/>
                <a:gridCol w="182880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Systemic Risk Control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Infrastructure &amp; Assurance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Control Area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External Driver /
Requirement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System Gap /
Exposure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Mitigation Protocol
(Soft Infrastructure)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Liability Avoidance /
Cost Benefit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Budget
Allocation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Data Integrity
(Scope 3)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Mandatory 3rd-Party
Verification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Unverified Upstream
Data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EU Food Safety Regulation (EC) No 178/2002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All suppliers &amp; facilities must be 100% certified; Current gap: 85% certified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Conduct gap assessments (Budget: €250K); Training &amp; consultancy to close gaps (Budget: €500K)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Supply Chain
Integrity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Traceability &amp;
Due Diligence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Tier-2 Visibility
Gap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371600"/>
                <a:gridCol w="1828800"/>
                <a:gridCol w="2560320"/>
                <a:gridCol w="2286000"/>
                <a:gridCol w="182880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Operational Resilience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Adaptive Capacity (Human &amp; Supply)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Resilience Unit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Physical/Tech
Stressor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Operational Impact
(Downtime Risk)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Adaptation Strategy
(Capacity Building)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Continuity Benefit
(ROI)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Budget
Allocation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Workforce
Adaptation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Thermal Stress /
New Process Risks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Productivity Loss
(-15% Forecast)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Food Safety &amp; Quality Assurance Team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Skill gap in data-driven food safety monitoring; Compliance risk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Establish Food Safety Analytics Academy (Budget: €500K); Predictive quality monitoring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Value Chain
Security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Resource Competition
(Water/Power)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License to Operate
Revocation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Water &amp; Energy Resilience Taskforce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Drought-induced water rationing; Production downtime risk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Water recycling &amp; efficiency program (Budget: €2,500K); On-site renewable energy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0</Words>
  <Application>Microsoft Office PowerPoint</Application>
  <PresentationFormat>寬螢幕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4" baseType="lpstr">
      <vt:lpstr>Aptos</vt:lpstr>
      <vt:lpstr>Arial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geesheen wu</dc:creator>
  <cp:lastModifiedBy>geesheen wu</cp:lastModifiedBy>
  <cp:revision>4</cp:revision>
  <dcterms:created xsi:type="dcterms:W3CDTF">2025-12-15T12:30:24Z</dcterms:created>
  <dcterms:modified xsi:type="dcterms:W3CDTF">2025-12-16T15:08:40Z</dcterms:modified>
</cp:coreProperties>
</file>