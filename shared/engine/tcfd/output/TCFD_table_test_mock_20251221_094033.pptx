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7"/>
    <p:sld>
      <p:cSld>
        <p:spTree>
          <p:nvGrpSpPr>
            <p:cNvPr id="1" name=""/>
            <p:cNvGrpSpPr/>
            <p:nvPr/>
          </p:nvGrpSpPr>
          <p:grpSpPr/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457200" y="914400"/>
              <a:ext cx="969264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2960"/>
                    <a:gridCol w="1188720"/>
                    <a:gridCol w="822960"/>
                    <a:gridCol w="2468880"/>
                    <a:gridCol w="2468880"/>
                    <a:gridCol w="1920240"/>
                  </a:tblGrid>
                  <a:tr h="10287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000000"/>
                              </a:solidFill>
                              <a:latin typeface="Arial"/>
                            </a:rPr>
                            <a:t>Physical Risks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000000"/>
                              </a:solidFill>
                              <a:latin typeface="Arial"/>
                            </a:rPr>
                            <a:t>Financial Impacts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Type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Climate
Change
Related Factor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Impact
Period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Description of Content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Potential Financial Impact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Adaption &amp; Response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Acute
Risk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Extreme weather
events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Short-term
and
medium-term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Chronic
Risk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Changing weather
patterns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Long-term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</a:tr>
                </a:tbl>
              </a:graphicData>
            </a:graphic>
          </p:graphicFrame>
        </p:spTree>
      </p:cSld>
      <p:clrMapOvr>
        <a:masterClrMapping/>
      </p:clrMapOvr>
    </p:sld>
    <p:sld>
      <p:cSld>
        <p:spTree>
          <p:nvGrpSpPr>
            <p:cNvPr id="1" name=""/>
            <p:cNvGrpSpPr/>
            <p:nvPr/>
          </p:nvGrpSpPr>
          <p:grpSpPr/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457200" y="914400"/>
              <a:ext cx="969264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2960"/>
                    <a:gridCol w="1188720"/>
                    <a:gridCol w="822960"/>
                    <a:gridCol w="2468880"/>
                    <a:gridCol w="2468880"/>
                    <a:gridCol w="1920240"/>
                  </a:tblGrid>
                  <a:tr h="10287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000000"/>
                              </a:solidFill>
                              <a:latin typeface="Arial"/>
                            </a:rPr>
                            <a:t>Climate Opportunities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000000"/>
                              </a:solidFill>
                              <a:latin typeface="Arial"/>
                            </a:rPr>
                            <a:t>Financial Benefits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Type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Climate
Change
Related Factor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Impact
Period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Description of Content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Potential Financial Impact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Adaption &amp; Response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Resource
Efficiency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Production process
efficiency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Short-term
and
medium-term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Energy
Source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Use of lower-emission
sources of energy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Short-term
and
medium-term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</a:tr>
                </a:tbl>
              </a:graphicData>
            </a:graphic>
          </p:graphicFrame>
        </p:spTree>
      </p:cSld>
      <p:clrMapOvr>
        <a:masterClrMapping/>
      </p:clrMapOvr>
    </p:sld>
    <p:sld>
      <p:cSld>
        <p:spTree>
          <p:nvGrpSpPr>
            <p:cNvPr id="1" name=""/>
            <p:cNvGrpSpPr/>
            <p:nvPr/>
          </p:nvGrpSpPr>
          <p:grpSpPr/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457200" y="914400"/>
              <a:ext cx="969264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822960"/>
                    <a:gridCol w="1188720"/>
                    <a:gridCol w="822960"/>
                    <a:gridCol w="2468880"/>
                    <a:gridCol w="2468880"/>
                    <a:gridCol w="1920240"/>
                  </a:tblGrid>
                  <a:tr h="10287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000000"/>
                              </a:solidFill>
                              <a:latin typeface="Arial"/>
                            </a:rPr>
                            <a:t>Climate Opportunities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000000"/>
                              </a:solidFill>
                              <a:latin typeface="Arial"/>
                            </a:rPr>
                            <a:t>Market Strategy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Type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Climate
Change
Related Factor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Impact
Period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Description of Content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Potential Financial Impact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Adaption &amp; Response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Products &amp;
Services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Development of
low emission goods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Short-term
and
medium-term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Markets &amp;
Resilience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Access to new
markets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Long-term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</a:tr>
                </a:tbl>
              </a:graphicData>
            </a:graphic>
          </p:graphicFrame>
        </p:spTree>
      </p:cSld>
      <p:clrMapOvr>
        <a:masterClrMapping/>
      </p:clrMapOvr>
    </p:sld>
    <p:sld>
      <p:cSld>
        <p:spTree>
          <p:nvGrpSpPr>
            <p:cNvPr id="1" name=""/>
            <p:cNvGrpSpPr/>
            <p:nvPr/>
          </p:nvGrpSpPr>
          <p:grpSpPr/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457200" y="914400"/>
              <a:ext cx="950976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280"/>
                    <a:gridCol w="1097280"/>
                    <a:gridCol w="914400"/>
                    <a:gridCol w="2286000"/>
                    <a:gridCol w="2286000"/>
                    <a:gridCol w="1828800"/>
                  </a:tblGrid>
                  <a:tr h="10287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000000"/>
                              </a:solidFill>
                              <a:latin typeface="Arial"/>
                            </a:rPr>
                            <a:t>Metrics &amp; Targets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000000"/>
                              </a:solidFill>
                              <a:latin typeface="Arial"/>
                            </a:rPr>
                            <a:t>Performance Indicators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Type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Metric
Category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Target
Timeframe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Current Progress
&amp; Status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Financial
Linkage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Action Plan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GHG Emissions
(Scope 1, 2, 3)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Emission Reduction
Targets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Short-term
and
medium-term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Climate-Related
Targets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Water, Waste &amp;
Green Revenue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Short-term
and
medium-term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</a:tr>
                </a:tbl>
              </a:graphicData>
            </a:graphic>
          </p:graphicFrame>
        </p:spTree>
      </p:cSld>
      <p:clrMapOvr>
        <a:masterClrMapping/>
      </p:clrMapOvr>
    </p:sld>
    <p:sld>
      <p:cSld>
        <p:spTree>
          <p:nvGrpSpPr>
            <p:cNvPr id="1" name=""/>
            <p:cNvGrpSpPr/>
            <p:nvPr/>
          </p:nvGrpSpPr>
          <p:grpSpPr/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457200" y="914400"/>
              <a:ext cx="10972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280"/>
                    <a:gridCol w="1371600"/>
                    <a:gridCol w="1828800"/>
                    <a:gridCol w="2560320"/>
                    <a:gridCol w="2286000"/>
                    <a:gridCol w="1828800"/>
                  </a:tblGrid>
                  <a:tr h="10287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000000"/>
                              </a:solidFill>
                              <a:latin typeface="Arial"/>
                            </a:rPr>
                            <a:t>Systemic Risk Control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000000"/>
                              </a:solidFill>
                              <a:latin typeface="Arial"/>
                            </a:rPr>
                            <a:t>Infrastructure &amp; Assurance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Control Area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External Driver /
Requirement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System Gap /
Exposure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Mitigation Protocol
(Soft Infrastructure)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Liability Avoidance /
Cost Benefit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Budget
Allocation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Data Integrity
(Scope 3)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Mandatory 3rd-Party
Verification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Unverified Upstream
Data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Supply Chain
Integrity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Traceability &amp;
Due Diligence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Tier-2 Visibility
Gap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</a:tr>
                </a:tbl>
              </a:graphicData>
            </a:graphic>
          </p:graphicFrame>
        </p:spTree>
      </p:cSld>
      <p:clrMapOvr>
        <a:masterClrMapping/>
      </p:clrMapOvr>
    </p:sld>
    <p:sld>
      <p:cSld>
        <p:spTree>
          <p:nvGrpSpPr>
            <p:cNvPr id="1" name=""/>
            <p:cNvGrpSpPr/>
            <p:nvPr/>
          </p:nvGrpSpPr>
          <p:grpSpPr/>
          <p:graphicFrame>
            <p:nvGraphicFramePr>
              <p:cNvPr id="2" name="Table 1"/>
              <p:cNvGraphicFramePr>
                <a:graphicFrameLocks noGrp="1"/>
              </p:cNvGraphicFramePr>
              <p:nvPr/>
            </p:nvGraphicFramePr>
            <p:xfrm>
              <a:off x="457200" y="914400"/>
              <a:ext cx="10972800" cy="4114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97280"/>
                    <a:gridCol w="1371600"/>
                    <a:gridCol w="1828800"/>
                    <a:gridCol w="2560320"/>
                    <a:gridCol w="2286000"/>
                    <a:gridCol w="1828800"/>
                  </a:tblGrid>
                  <a:tr h="10287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000000"/>
                              </a:solidFill>
                              <a:latin typeface="Arial"/>
                            </a:rPr>
                            <a:t>Operational Resilience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sz="1600" b="1">
                              <a:solidFill>
                                <a:srgbClr val="000000"/>
                              </a:solidFill>
                              <a:latin typeface="Arial"/>
                            </a:rPr>
                            <a:t>Adaptive Capacity (Human &amp; Supply)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  <a:tc hMerge="1"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Resilience Unit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Physical/Tech
Stressor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Operational Impact
(Downtime Risk)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Adaptation Strategy
(Capacity Building)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Continuity Benefit
(ROI)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0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Budget
Allocation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EFEFEF"/>
                        </a:solidFill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Workforce
Adaptation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Thermal Stress /
New Process Risks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Productivity Loss
(-15% Forecast)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/>
                        <a:lstStyle/>
                        <a:p/>
                      </a:txBody>
                      <a:tcPr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FFFFF"/>
                        </a:solidFill>
                      </a:tcPr>
                    </a:tc>
                  </a:tr>
                  <a:tr h="10287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1">
                              <a:solidFill>
                                <a:srgbClr val="333333"/>
                              </a:solidFill>
                              <a:latin typeface="Arial"/>
                            </a:rPr>
                            <a:t>Value Chain
Security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Resource Competition
(Water/Power)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333333"/>
                              </a:solidFill>
                              <a:latin typeface="Arial"/>
                            </a:rPr>
                            <a:t>License to Operate
Revocation</a:t>
                          </a:r>
                        </a:p>
                      </a:txBody>
                      <a:tcPr anchor="ctr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900" b="0">
                              <a:solidFill>
                                <a:srgbClr val="000000"/>
                              </a:solidFill>
                              <a:latin typeface="Arial"/>
                            </a:rPr>
                            <a:t/>
                          </a:r>
                        </a:p>
                      </a:txBody>
                      <a:tcPr anchor="t">
                        <a:lnL w="0">
                          <a:noFill/>
                        </a:lnL>
                        <a:lnR w="0">
                          <a:noFill/>
                        </a:lnR>
                        <a:lnT w="0">
                          <a:noFill/>
                        </a:lnT>
                        <a:lnB w="0">
                          <a:noFill/>
                        </a:lnB>
                        <a:solidFill>
                          <a:srgbClr val="F7F7F7"/>
                        </a:solidFill>
                      </a:tcPr>
                    </a:tc>
                  </a:tr>
                </a:tbl>
              </a:graphicData>
            </a:graphic>
          </p:graphicFrame>
        </p:spTree>
      </p:cSld>
      <p:clrMapOvr>
        <a:masterClrMapping/>
      </p:clrMapOvr>
    </p:sld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751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6649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361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958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85382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弧形 6">
            <a:extLst>
              <a:ext uri="{FF2B5EF4-FFF2-40B4-BE49-F238E27FC236}">
                <a16:creationId xmlns:a16="http://schemas.microsoft.com/office/drawing/2014/main" id="{4CA5A910-571F-75C2-BF35-26BA8FFDDC31}"/>
              </a:ext>
            </a:extLst>
          </p:cNvPr>
          <p:cNvSpPr/>
          <p:nvPr userDrawn="1"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菱形 7">
            <a:extLst>
              <a:ext uri="{FF2B5EF4-FFF2-40B4-BE49-F238E27FC236}">
                <a16:creationId xmlns:a16="http://schemas.microsoft.com/office/drawing/2014/main" id="{6DEB5FF7-6D99-88D6-138A-1295A01D10EF}"/>
              </a:ext>
            </a:extLst>
          </p:cNvPr>
          <p:cNvSpPr/>
          <p:nvPr userDrawn="1"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D7130504-BEA1-8D0C-83EB-3140F88CDFA6}"/>
              </a:ext>
            </a:extLst>
          </p:cNvPr>
          <p:cNvSpPr/>
          <p:nvPr userDrawn="1"/>
        </p:nvSpPr>
        <p:spPr>
          <a:xfrm>
            <a:off x="474823" y="5796571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912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6" r:id="rId3"/>
    <p:sldLayoutId id="2147483658" r:id="rId4"/>
    <p:sldLayoutId id="2147483659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弧形 7">
            <a:extLst>
              <a:ext uri="{FF2B5EF4-FFF2-40B4-BE49-F238E27FC236}">
                <a16:creationId xmlns:a16="http://schemas.microsoft.com/office/drawing/2014/main" id="{4BCFFA3A-05B2-D29F-A920-10540ACF8CF0}"/>
              </a:ext>
            </a:extLst>
          </p:cNvPr>
          <p:cNvSpPr/>
          <p:nvPr/>
        </p:nvSpPr>
        <p:spPr>
          <a:xfrm rot="9078736">
            <a:off x="9967899" y="-3091766"/>
            <a:ext cx="3657368" cy="4548434"/>
          </a:xfrm>
          <a:prstGeom prst="arc">
            <a:avLst>
              <a:gd name="adj1" fmla="val 15204947"/>
              <a:gd name="adj2" fmla="val 21537104"/>
            </a:avLst>
          </a:prstGeom>
          <a:ln w="587375">
            <a:solidFill>
              <a:schemeClr val="accent6">
                <a:lumMod val="20000"/>
                <a:lumOff val="80000"/>
                <a:alpha val="60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F63D3C8C-558E-AD98-BB8B-59FF8364E034}"/>
              </a:ext>
            </a:extLst>
          </p:cNvPr>
          <p:cNvSpPr/>
          <p:nvPr/>
        </p:nvSpPr>
        <p:spPr>
          <a:xfrm>
            <a:off x="11656541" y="1886465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菱形 9">
            <a:extLst>
              <a:ext uri="{FF2B5EF4-FFF2-40B4-BE49-F238E27FC236}">
                <a16:creationId xmlns:a16="http://schemas.microsoft.com/office/drawing/2014/main" id="{A0ED70EE-C89D-FC5C-0D69-E5637666814C}"/>
              </a:ext>
            </a:extLst>
          </p:cNvPr>
          <p:cNvSpPr/>
          <p:nvPr/>
        </p:nvSpPr>
        <p:spPr>
          <a:xfrm>
            <a:off x="613719" y="4534930"/>
            <a:ext cx="280086" cy="337751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2806862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457200" y="914400"/>
          <a:ext cx="96926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188720"/>
                <a:gridCol w="822960"/>
                <a:gridCol w="2468880"/>
                <a:gridCol w="2468880"/>
                <a:gridCol w="1920240"/>
              </a:tblGrid>
              <a:tr h="1028700"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Climate-Related Risks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Arial"/>
                        </a:rPr>
                        <a:t>Financial Impacts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Type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Climate
Change
Related Factor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Impact
Period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Description of Content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Potential Financial Impact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333333"/>
                          </a:solidFill>
                          <a:latin typeface="Arial"/>
                        </a:rPr>
                        <a:t>Adaption &amp; Response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FEFEF"/>
                    </a:solidFill>
                  </a:tcPr>
                </a:tc>
              </a:tr>
              <a:tr h="1028700">
                <a:tc rowSpan="2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333333"/>
                          </a:solidFill>
                          <a:latin typeface="Arial"/>
                        </a:rPr>
                        <a:t>Transformation
Risk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Policy and
Regulation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1028700">
                <a:tc vMerge="1">
                  <a:txBody>
                    <a:bodyPr/>
                    <a:lstStyle/>
                    <a:p/>
                  </a:txBody>
                  <a:tcPr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Green product
and technology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Arial"/>
                        </a:rPr>
                        <a:t>Short-term
and
medium-term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4" baseType="lpstr">
      <vt:lpstr>Aptos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geesheen wu</dc:creator>
  <cp:lastModifiedBy>geesheen wu</cp:lastModifiedBy>
  <cp:revision>4</cp:revision>
  <dcterms:created xsi:type="dcterms:W3CDTF">2025-12-15T12:30:24Z</dcterms:created>
  <dcterms:modified xsi:type="dcterms:W3CDTF">2025-12-16T15:08:40Z</dcterms:modified>
</cp:coreProperties>
</file>