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5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64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36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58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5382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弧形 6">
            <a:extLst>
              <a:ext uri="{FF2B5EF4-FFF2-40B4-BE49-F238E27FC236}">
                <a16:creationId xmlns:a16="http://schemas.microsoft.com/office/drawing/2014/main" id="{4CA5A910-571F-75C2-BF35-26BA8FFDDC31}"/>
              </a:ext>
            </a:extLst>
          </p:cNvPr>
          <p:cNvSpPr/>
          <p:nvPr userDrawn="1"/>
        </p:nvSpPr>
        <p:spPr>
          <a:xfrm rot="9078736">
            <a:off x="9967899" y="-3091766"/>
            <a:ext cx="3657368" cy="4548434"/>
          </a:xfrm>
          <a:prstGeom prst="arc">
            <a:avLst>
              <a:gd name="adj1" fmla="val 15204947"/>
              <a:gd name="adj2" fmla="val 21537104"/>
            </a:avLst>
          </a:prstGeom>
          <a:ln w="587375">
            <a:solidFill>
              <a:schemeClr val="accent6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6DEB5FF7-6D99-88D6-138A-1295A01D10EF}"/>
              </a:ext>
            </a:extLst>
          </p:cNvPr>
          <p:cNvSpPr/>
          <p:nvPr userDrawn="1"/>
        </p:nvSpPr>
        <p:spPr>
          <a:xfrm>
            <a:off x="11656541" y="1886465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D7130504-BEA1-8D0C-83EB-3140F88CDFA6}"/>
              </a:ext>
            </a:extLst>
          </p:cNvPr>
          <p:cNvSpPr/>
          <p:nvPr userDrawn="1"/>
        </p:nvSpPr>
        <p:spPr>
          <a:xfrm>
            <a:off x="474823" y="5796571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91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Climate-Related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Policy and
Regulation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Stricter facility emission limits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Operating cost increase by $62,525K; Gross margin impact -1.3%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internal carbon pricing (Budget: $1,500K); Invest in energy efficiency measures to reduce Scope 1 &amp; 2 emissions by 20% (Budget: $15,000K)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Green product
and technology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Competitors launch low-emission products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Potential revenue loss of $30,000K from key clients; Market share loss of 10%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Enhance supply chain traceability &amp; engagement program (Budget: $5,000K); Allocate 30% of R&amp;D budget to sustainable product development (Budget: $20,000K)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Physical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Acute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Extreme weather
events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Drought induced water scarcity disrupting operations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Asset damage $1,500K; Raw material cost increase $500K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Construct flood defense walls (Budget: $800K); Implement water recycling system (Budget: $250K)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Chronic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Changing weather
patterns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Sea level rise threatening coastal warehouse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Energy cost increase $300K/year; Warehouse repair cost $2,000K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Install advanced HVAC with variable speed drives (Budget: $1,200K); Relocate warehouse to higher ground (Budget: $1,500K)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Benefits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Resource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Production process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Zero Liquid Discharge system; Organic waste composting; Recycling of metal scraps and filings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Water savings of $20K/year; 30% reduction in waste disposal costs; Material cost savings of $15K/year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Install wastewater treatment &amp; recycling plant (Budget: $150K); Implement ISO 14001 EMS; Partner with waste management vendor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Energy
Source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Use of lower-emission
sources of energy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Transition to electric forklifts and vehicles; Green Power Purchase Agreement for wind energy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Energy cost reduction of $25K/year; Carbon tax savings of $10K/year; 20% reduction in Scope 2 emissions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Install 500 kW solar array (Budget: $750K); Purchase 10 electric forklifts (Budget: $500K); Sign 10-year wind PPA for 30% of electricity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Market Strategy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Products &amp;
Services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Development of
low emission goods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Eco-efficient manufacturing technologies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New revenue stream of $10,000K; Increase market share by 5%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R&amp;D for sustainable materials (Budget: $2,000K); Implement Industry 4.0 tech to reduce waste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Markets &amp;
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Access to new
markets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Expansion into EU via green manufacturing compliance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Access to $15,000K EU market; Preferred supplier status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Achieve ISO 14001 &amp; EMAS certifications; Join EU Ecolabel scheme (Budget: $500K)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509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914400"/>
                <a:gridCol w="228600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Metrics &amp; 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Performance Indicators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Metric
Category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Target
Timeframe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Current Progress
&amp; Status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Financial
Linkage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Action Plan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GHG Emissions
(Scope 1, 2,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Emission Reduction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Reduce Scope 1&amp;2 by 45% by 2030 (Base year 2022)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Baseline set; Scope 3 emissions being calculated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Install rooftop solar (1.2 MW); Retrofit boiler to electric; Engage top 20 suppliers (Budget: $1,500K)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Climate-Related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Water, Waste &amp;
Green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Achieve Zero Waste to Landfill by 2035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Current diversion rate 60%; Reduced waste intensity by 10%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waste segregation at source; Partner with recycler for hard-to-recycle waste (Budget: $250K)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Systemic Risk Control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Infrastructure &amp; Assurance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Control Area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External Driver /
Requirement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System Gap /
Exposure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Mitigation Protocol
(Soft Infrastructure)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Liability Avoidance /
Cost Benefit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Data Integrity
(Scope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Mandatory 3rd-Party
Verification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Unverified Upstream
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ISO 45001 H&amp;S Certification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Key clients require ISO certs; No formal EMS system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EMS system &amp; training (Budget: $250K); Conduct GAP Analysis &amp; certification audit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Supply Chain
Integrity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Traceability &amp;
Due Diligence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Tier-2 Visibility
Gap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RMI &amp; OECD Due Diligence on Critical Raw Materials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Clients requesting BOM transparency; Limited sub-tier visibility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Deploy Supply Chain Mapping tool (Budget: $500K); Conduct supplier risk assessments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Operational 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Adaptive Capacity (Human &amp; Supply)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Resilience Unit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Physical/Tech
Stressor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Operational Impact
(Downtime Risk)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Adaptation Strategy
(Capacity Building)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Continuity Benefit
(ROI)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Workforce
Adaptation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Thermal Stress /
New Process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Productivity Loss
(-15% Forecast)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Machining &amp; Safety Compliance Team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Skills gap for low-carbon equipment; Injury risks from new processes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Upskill machinists on efficient tech (Budget: $500K); Certify to ISO 45001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Value Chain
Security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Resource Competition
(Water/Power)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License to Operate
Revocation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Water &amp; Power Resilience Taskforce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Drought-driven power outages; Water supply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Onsite wastewater reuse (Budget: $1,200K); Co-develop microgrid with utility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geesheen wu</dc:creator>
  <cp:lastModifiedBy>geesheen wu</cp:lastModifiedBy>
  <cp:revision>4</cp:revision>
  <dcterms:created xsi:type="dcterms:W3CDTF">2025-12-15T12:30:24Z</dcterms:created>
  <dcterms:modified xsi:type="dcterms:W3CDTF">2025-12-16T15:08:40Z</dcterms:modified>
</cp:coreProperties>
</file>