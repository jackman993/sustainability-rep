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51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64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36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58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538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弧形 6">
            <a:extLst>
              <a:ext uri="{FF2B5EF4-FFF2-40B4-BE49-F238E27FC236}">
                <a16:creationId xmlns:a16="http://schemas.microsoft.com/office/drawing/2014/main" id="{4CA5A910-571F-75C2-BF35-26BA8FFDDC31}"/>
              </a:ext>
            </a:extLst>
          </p:cNvPr>
          <p:cNvSpPr/>
          <p:nvPr userDrawn="1"/>
        </p:nvSpPr>
        <p:spPr>
          <a:xfrm rot="9078736">
            <a:off x="9967899" y="-3091766"/>
            <a:ext cx="3657368" cy="4548434"/>
          </a:xfrm>
          <a:prstGeom prst="arc">
            <a:avLst>
              <a:gd name="adj1" fmla="val 15204947"/>
              <a:gd name="adj2" fmla="val 21537104"/>
            </a:avLst>
          </a:prstGeom>
          <a:ln w="587375">
            <a:solidFill>
              <a:schemeClr val="accent6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菱形 7">
            <a:extLst>
              <a:ext uri="{FF2B5EF4-FFF2-40B4-BE49-F238E27FC236}">
                <a16:creationId xmlns:a16="http://schemas.microsoft.com/office/drawing/2014/main" id="{6DEB5FF7-6D99-88D6-138A-1295A01D10EF}"/>
              </a:ext>
            </a:extLst>
          </p:cNvPr>
          <p:cNvSpPr/>
          <p:nvPr userDrawn="1"/>
        </p:nvSpPr>
        <p:spPr>
          <a:xfrm>
            <a:off x="11656541" y="1886465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菱形 8">
            <a:extLst>
              <a:ext uri="{FF2B5EF4-FFF2-40B4-BE49-F238E27FC236}">
                <a16:creationId xmlns:a16="http://schemas.microsoft.com/office/drawing/2014/main" id="{D7130504-BEA1-8D0C-83EB-3140F88CDFA6}"/>
              </a:ext>
            </a:extLst>
          </p:cNvPr>
          <p:cNvSpPr/>
          <p:nvPr userDrawn="1"/>
        </p:nvSpPr>
        <p:spPr>
          <a:xfrm>
            <a:off x="474823" y="5796571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912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6" r:id="rId3"/>
    <p:sldLayoutId id="2147483658" r:id="rId4"/>
    <p:sldLayoutId id="214748365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Climate-Related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Transformation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Policy and
Regulation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Stricter medical waste emission limits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Carbon tax cost 4.7-9.4K CNY/year; Operating cost +5-10%; Profit margin -1-2%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Internal carbon price of 100 CNY/tCO2e (Budget: 50K CNY); Improve medical waste incinerator efficiency by 20% (Budget: 500K CNY)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 v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Green product
and technology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Competitor adopting pyrolysis gasification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30% revenue loss from top 3 clients (3916K CNY)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Pilot low-carbon microwave disinfection system (Budget: 1500K CNY); Achieve carbon neutrality by 2028 (Budget: 500K CNY)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Physical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Acute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Extreme weather
events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Droughts disrupting effluent treatment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Asset repair cost est. ¥15,000K; Operations halt for 7 days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Construct flood barriers (Budget: ¥5,000K); Establish backup water supply contracts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Chronic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Changing weather
patterns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Rising mean temperature reducing autoclave 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Gas cost increase ¥1,200K/year; Higher autoclave maintenance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Upgrade to vacuum autoclaves (Budget: ¥8,000K); AI-based autoclave monitoring system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Benefits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Resource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Production process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Implementation of closed-loop water recycling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Cost savings of 6,000K CNY/year from reduced chemical purchases; 3,000K CNY/year savings from lower water withdrawal fees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reverse osmosis water recycling system (Budget: 8,000K CNY); Optimize chemical dosing and recovery process (Budget: 2,000K CNY)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Energy
Source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Use of lower-emission
sources of energy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Market 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Products &amp;
Services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Development of
low emission goods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 in energy-efficient autoclaves and shredders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New revenue from eco-conscious healthcare clients ($1,200K); 10% market share growth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R&amp;D for low-emissions incineration (Budget: $500K); Environmental tech upgrades (Budget: $800K)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Markets &amp;
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Access to new
markets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Expand to regions with stricter medical waste standards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Access to premium hospital contracts ($3,000K value)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Establish treatment hubs in key cities; Real-time waste tracking system (Budget: $1,500K)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509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228600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Metrics &amp; 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Performance Indicators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Metric
Category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Target
Timeframe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Current Progress
&amp; Status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Financial
Linkage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Action Plan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GHG Emissions
(Scope 1, 2,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Emission Reduction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Reduce Scope 1&amp;2 by 45% by 2030 (Base year 2022)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2022 emissions: 93.95 tCO2e (Scope 1: 8.54, Scope 2: 85.41)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Transition fleet to EVs; Install rooftop solar PV (Budget: ¥850K); Engage with waste collection partners to optimize routes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Climate-Related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Water, Waste &amp;
Green Revenue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Achieve 85% Hazardous Waste Treatment Rate by 2028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Current rate 68%; Waste intensity flat in 2022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Expand high-temperature incineration capacity by 30% (Budget: ¥12,500K); Launch safe disposal awareness campaign for clients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Systemic Risk Control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Infrastructure &amp; Assurance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Control Area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External Driver /
Requirement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System Gap /
Exposure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Mitigation Protocol
(Soft Infrastructure)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Liability Avoidance /
Cost Benefit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Data Integrity
(Scope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Mandatory 3rd-Party
Verification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Unverified Upstream
Data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National Permit for Medical Waste Treatment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Key hospital clients require 100% compliance; Current gap in wastewater treatment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Upgrade on-site wastewater treatment system (Budget: ¥800K); Conduct EHS training for all operators (Budget: ¥200K)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Supply Chain
Integrity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Traceability &amp;
Due Diligence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Tier-2 Visibility
Gap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Operational 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Adaptive Capacity (Human &amp; Supply)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Resilience Unit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Physical/Tech
Stressor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Operational Impact
(Downtime Risk)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Adaptation Strategy
(Capacity Building)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Continuity Benefit
(ROI)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Workforce
Adaptation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Thermal Stress /
New Process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Productivity Loss
(-15% Forecast)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Medical Waste Handling Team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Skill gap in safe waste segregation &amp; packaging; Infection 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Establish Biosafety Training Academy (Budget: ¥500K); VR simulation for waste handling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Value Chain
Security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Resource Competition
(Water/Power)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License to Operate
Revocation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Water &amp; Power Resilience Team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Unreliable grid power; Water scarcity risk for sterilization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On-site solar+storage system (Budget: ¥8,000K); Water recycling partnership with utility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geesheen wu</dc:creator>
  <cp:lastModifiedBy>geesheen wu</cp:lastModifiedBy>
  <cp:revision>4</cp:revision>
  <dcterms:created xsi:type="dcterms:W3CDTF">2025-12-15T12:30:24Z</dcterms:created>
  <dcterms:modified xsi:type="dcterms:W3CDTF">2025-12-16T15:08:40Z</dcterms:modified>
</cp:coreProperties>
</file>