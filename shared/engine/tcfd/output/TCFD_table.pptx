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1253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51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6649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361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958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85382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弧形 6">
            <a:extLst>
              <a:ext uri="{FF2B5EF4-FFF2-40B4-BE49-F238E27FC236}">
                <a16:creationId xmlns:a16="http://schemas.microsoft.com/office/drawing/2014/main" id="{4CA5A910-571F-75C2-BF35-26BA8FFDDC31}"/>
              </a:ext>
            </a:extLst>
          </p:cNvPr>
          <p:cNvSpPr/>
          <p:nvPr userDrawn="1"/>
        </p:nvSpPr>
        <p:spPr>
          <a:xfrm rot="9078736">
            <a:off x="9967899" y="-3091766"/>
            <a:ext cx="3657368" cy="4548434"/>
          </a:xfrm>
          <a:prstGeom prst="arc">
            <a:avLst>
              <a:gd name="adj1" fmla="val 15204947"/>
              <a:gd name="adj2" fmla="val 21537104"/>
            </a:avLst>
          </a:prstGeom>
          <a:ln w="587375">
            <a:solidFill>
              <a:schemeClr val="accent6">
                <a:lumMod val="20000"/>
                <a:lumOff val="80000"/>
                <a:alpha val="6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菱形 7">
            <a:extLst>
              <a:ext uri="{FF2B5EF4-FFF2-40B4-BE49-F238E27FC236}">
                <a16:creationId xmlns:a16="http://schemas.microsoft.com/office/drawing/2014/main" id="{6DEB5FF7-6D99-88D6-138A-1295A01D10EF}"/>
              </a:ext>
            </a:extLst>
          </p:cNvPr>
          <p:cNvSpPr/>
          <p:nvPr userDrawn="1"/>
        </p:nvSpPr>
        <p:spPr>
          <a:xfrm>
            <a:off x="11656541" y="1886465"/>
            <a:ext cx="280086" cy="337751"/>
          </a:xfrm>
          <a:prstGeom prst="diamon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菱形 8">
            <a:extLst>
              <a:ext uri="{FF2B5EF4-FFF2-40B4-BE49-F238E27FC236}">
                <a16:creationId xmlns:a16="http://schemas.microsoft.com/office/drawing/2014/main" id="{D7130504-BEA1-8D0C-83EB-3140F88CDFA6}"/>
              </a:ext>
            </a:extLst>
          </p:cNvPr>
          <p:cNvSpPr/>
          <p:nvPr userDrawn="1"/>
        </p:nvSpPr>
        <p:spPr>
          <a:xfrm>
            <a:off x="474823" y="5796571"/>
            <a:ext cx="280086" cy="337751"/>
          </a:xfrm>
          <a:prstGeom prst="diamon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4912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6" r:id="rId3"/>
    <p:sldLayoutId id="2147483658" r:id="rId4"/>
    <p:sldLayoutId id="214748365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731520"/>
          <a:ext cx="96926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88392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Climate-Related Risks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Financial Impacts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883920">
                <a:tc row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Transformation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Policy and
Regulation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Emission caps for healthcare sector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Operating cost increase by $16.5K; Net profit margin impact -0.16%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Implement energy efficiency projects to reduce Scope 2 emissions by 15% (Budget: $50K); Evaluate renewable energy PPAs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83920">
                <a:tc v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Green product
and technology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Competition investing in on-site solar PV and EVs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Potential revenue loss of $500K from sustainability-focused clients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Conduct client engagement on decarbonization plans (Budget: $30K); Develop net-zero roadmap and set SBTi targets (Budget: $75K)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  <a:tr h="883920">
                <a:tc row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Transformation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Market
Disruption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83920">
                <a:tc v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Reputation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Long-term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Physical Risks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Financial Impacts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Acute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Extreme weather
events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Heavy rainfall and flooding disrupting operations in coastal locations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Asset repair cost est. $450K; Temporary clinic closures leading to $1,200K revenue loss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Upgrade HVAC systems to handle higher peak temps (Budget: $600K); Develop flood response and business continuity plans; Invest in flood-proofing measures for high-risk clinics (Budget: $250K)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Chronic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Changing weather
patterns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Long-term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Rising sea levels increasing risk of permanent flooding damage to coastal clinics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Electricity cooling cost increase $180K/year; Potential permanent loss of clinic infrastructure valued at $3,500K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Conduct energy audits and retrofits to improve efficiency (Budget: $400K); Develop long-term plans to relocate at-risk coastal clinics; Invest in on-site renewable energy to reduce reliance on grid power (Budget: $1,200K)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Climate Opportunities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Financial Benefits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Resource
Efficiency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Production process
efficiency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Implement medical waste recycling program; Reduce disposable medical supplies usage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Water and waste disposal cost savings of $85K/year; Reduced medical supply expenses of $250K/year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Install water-efficient faucets and toilets (Budget: $120K); Partner with waste recycler (Cost: $50K/year); Educate staff on reusable alternatives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Energy
Source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Use of lower-emission
sources of energy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Procure renewable energy through utility green power program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Electricity cost savings of $75K/year; Avoided carbon tax of $10K/year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500 kW solar PV system (Budget: $1,000K); Subscribe to 100% wind power plan (Added cost: $20K/year)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Climate Opportunities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Market Strategy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Products &amp;
Services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Development of
low emission goods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Transition to paperless &amp; digital processes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New revenue stream of $2,500K; Efficiency gains of $500K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IT infrastructure upgrade (Budget: $1,000K); Staff training &amp; change management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Markets &amp;
Resilience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Access to new
markets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Long-term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Preferred provider status with insurers focused on preventive care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Retention of key accounts ($5,000K value)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Achieve top quartile quality metrics; Implement population health analytics (Budget: $800K)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5097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914400"/>
                <a:gridCol w="2286000"/>
                <a:gridCol w="2286000"/>
                <a:gridCol w="182880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Metrics &amp; Targets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Performance Indicators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Metric
Category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Target
Timeframe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Current Progress
&amp; Status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Financial
Linkage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Action Plan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GHG Emissions
(Scope 1, 2, 3)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Emission Reduction
Targets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Reduce Scope 1&amp;2 by 40% by 2030 (Base year 2022)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Achieved -5% reduction; Scope 3 not yet measured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Retrofit buildings for energy efficiency; Transition to renewable electricity (Budget: $500K)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Climate-Related
Targets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Water, Waste &amp;
Green Revenue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Achieve 80% Waste Diversion Rate by 2028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Current rate 60%; Waste per patient visit decreased 10%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Implement reusable medical supplies; Partner with waste-to-energy facility (Budget: $250K)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1828800"/>
                <a:gridCol w="2560320"/>
                <a:gridCol w="2286000"/>
                <a:gridCol w="182880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Systemic Risk Control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Infrastructure &amp; Assurance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Control Area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External Driver /
Requirement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System Gap /
Exposure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Mitigation Protocol
(Soft Infrastructure)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Liability Avoidance /
Cost Benefit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Budget
Allocation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Data Integrity
(Scope 3)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Mandatory 3rd-Party
Verification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Unverified Upstream
Data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OSHA Compliance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Key clients require ISO 14001; Current gap in waste management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Conduct EMS gap assessment (Budget: $10K); Implement medical waste recycling program (Budget: $50K)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Supply Chain
Integrity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Traceability &amp;
Due Diligence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Tier-2 Visibility
Gap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Supplier Code of Conduct covering ESG metrics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Lack of visibility into Scope 3 emissions; Need to assess ESG risks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Roll out Supplier ESG survey &amp; audits (Budget: $25K); Develop preferred supplier program based on ESG performance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1828800"/>
                <a:gridCol w="2560320"/>
                <a:gridCol w="2286000"/>
                <a:gridCol w="182880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Operational Resilience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Adaptive Capacity (Human &amp; Supply)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Resilience Unit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Physical/Tech
Stressor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Operational Impact
(Downtime Risk)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Adaptation Strategy
(Capacity Building)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Continuity Benefit
(ROI)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Budget
Allocation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Workforce
Adaptation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Thermal Stress /
New Process Risks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Productivity Loss
(-15% Forecast)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Clinic Staff Resilience Team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Skill gap in infectious disease protocols; Burnout and attrition 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Establish Pandemic Preparedness Training (Budget: $1,200K); Mental health support benefits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Value Chain
Security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Resource Competition
(Water/Power)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License to Operate
Revocation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Water &amp; Power Resilience Team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Aging local utility infrastructure; Outage risks for critical equipment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Onsite water storage and treatment (Budget: $850K); Backup generator capacity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4" baseType="lpstr">
      <vt:lpstr>Aptos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geesheen wu</dc:creator>
  <cp:lastModifiedBy>geesheen wu</cp:lastModifiedBy>
  <cp:revision>4</cp:revision>
  <dcterms:created xsi:type="dcterms:W3CDTF">2025-12-15T12:30:24Z</dcterms:created>
  <dcterms:modified xsi:type="dcterms:W3CDTF">2025-12-16T15:08:40Z</dcterms:modified>
</cp:coreProperties>
</file>