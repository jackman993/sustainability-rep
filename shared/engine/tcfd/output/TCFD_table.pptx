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1253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751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6649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361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9586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8538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弧形 6">
            <a:extLst>
              <a:ext uri="{FF2B5EF4-FFF2-40B4-BE49-F238E27FC236}">
                <a16:creationId xmlns:a16="http://schemas.microsoft.com/office/drawing/2014/main" id="{4CA5A910-571F-75C2-BF35-26BA8FFDDC31}"/>
              </a:ext>
            </a:extLst>
          </p:cNvPr>
          <p:cNvSpPr/>
          <p:nvPr userDrawn="1"/>
        </p:nvSpPr>
        <p:spPr>
          <a:xfrm rot="9078736">
            <a:off x="9967899" y="-3091766"/>
            <a:ext cx="3657368" cy="4548434"/>
          </a:xfrm>
          <a:prstGeom prst="arc">
            <a:avLst>
              <a:gd name="adj1" fmla="val 15204947"/>
              <a:gd name="adj2" fmla="val 21537104"/>
            </a:avLst>
          </a:prstGeom>
          <a:ln w="587375">
            <a:solidFill>
              <a:schemeClr val="accent6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菱形 7">
            <a:extLst>
              <a:ext uri="{FF2B5EF4-FFF2-40B4-BE49-F238E27FC236}">
                <a16:creationId xmlns:a16="http://schemas.microsoft.com/office/drawing/2014/main" id="{6DEB5FF7-6D99-88D6-138A-1295A01D10EF}"/>
              </a:ext>
            </a:extLst>
          </p:cNvPr>
          <p:cNvSpPr/>
          <p:nvPr userDrawn="1"/>
        </p:nvSpPr>
        <p:spPr>
          <a:xfrm>
            <a:off x="11656541" y="1886465"/>
            <a:ext cx="280086" cy="337751"/>
          </a:xfrm>
          <a:prstGeom prst="diamond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菱形 8">
            <a:extLst>
              <a:ext uri="{FF2B5EF4-FFF2-40B4-BE49-F238E27FC236}">
                <a16:creationId xmlns:a16="http://schemas.microsoft.com/office/drawing/2014/main" id="{D7130504-BEA1-8D0C-83EB-3140F88CDFA6}"/>
              </a:ext>
            </a:extLst>
          </p:cNvPr>
          <p:cNvSpPr/>
          <p:nvPr userDrawn="1"/>
        </p:nvSpPr>
        <p:spPr>
          <a:xfrm>
            <a:off x="474823" y="5796571"/>
            <a:ext cx="280086" cy="337751"/>
          </a:xfrm>
          <a:prstGeom prst="diamond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912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3" r:id="rId2"/>
    <p:sldLayoutId id="2147483656" r:id="rId3"/>
    <p:sldLayoutId id="2147483658" r:id="rId4"/>
    <p:sldLayoutId id="2147483659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Climate-Related Risks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Financial Impacts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Transformation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Policy and
Regulation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Potential carbon tax of $52/tCO2e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Operating cost increase by $18,767K; Gross margin impact -1.66%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Implement internal carbon pricing (Budget: $2,000K); Accelerate low-carbon cement and steel procurement; Vertical integration of timber and mass timber (Budget: $15,000K)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 v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Green product
and technology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Competitor investment in modular construction and BIM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Potential revenue loss of $226,440K from top 20 clients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R&amp;D investment in modular construction and BIM (Budget: $50,000K); Obtain LEED certification for 100% of new construction by 2026; Launch client education program on low-carbon building materials and techniques (Budget: $5,000K)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Physical Risks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Financial Impacts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Acute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Extreme weather
events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Flooding disrupting material delivery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Asset repair cost est. $2,500K; Project delays up to 30 days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Upgrade site drainage &amp; flood barriers (Budget: $750K); Diversify material suppliers; Increase inventory buffer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Chronic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Changing weather
patterns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Long-term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Rising sea levels &amp; coastal erosion impacting foundation integrity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Reinforcement &amp; remediation cost $1,200K/year by 2030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Adopt flood-resilient foundation designs (Budget: $600K); Avoid high-risk coastal zones; Increase insurance coverage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Climate Opportunities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Financial Benefits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Resource
Efficiency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Production process
efficiency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Engineered wood products; Reuse of formwork and falsework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Cost savings of $2,500K/year from reduced virgin material use; Waste disposal cost reduction of $800K/year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Invest in RCA crushing equipment (Budget: $1,200K); Partner with wood product suppliers; Implement take-back scheme for formwork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Energy
Source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Use of lower-emission
sources of energy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Power purchase agreements (PPAs) for wind and solar; Electrification of construction equipment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Energy cost savings of $1,800K/year; Avoid future carbon tax; Reduce Scope 2 emissions by 60%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Install 2 MW rooftop solar (Budget: $3,000K); Sign 10-year wind/solar PPA; Replace diesel equipment with electric (Budget: $5,000K)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Climate Opportunities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Market Strategy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Products &amp;
Services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Development of
low emission goods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Modular construction solutions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Green building material revenue $5,000K; 10% market share in modular construction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Concrete R&amp;D with 50% lower emissions (Budget: $1,500K); Modular construction partnerships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Markets &amp;
Resilience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Access to new
markets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Long-term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Entry into LEED certified construction market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Access to $20,000K green building projects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LEED training for employees; Sustainable sourcing platform (Budget: $500K)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5097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914400"/>
                <a:gridCol w="2286000"/>
                <a:gridCol w="2286000"/>
                <a:gridCol w="182880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Metrics &amp; Targets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Performance Indicators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Metric
Category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Target
Timeframe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Current Progress
&amp; Status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Financial
Linkage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Action Plan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GHG Emissions
(Scope 1, 2, 3)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Emission Reduction
Targets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Measure &amp; set Scope 3 SBT by 2025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Achieved -5% Scope 1&amp;2; Started Scope 3 screening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Accelerate fleet electrification; Low-carbon concrete (fly ash, CCS); Engage suppliers &amp; mandate disclosure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Climate-Related
Targets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Water, Waste &amp;
Green Revenue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Achieve 80% construction waste diversion rate by 2026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Current rate 65%; waste intensity reduced 10%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Partner with recycling firms for closed-loop; Modular &amp; prefab construction to cut waste; Train crews on waste segregation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1828800"/>
                <a:gridCol w="2560320"/>
                <a:gridCol w="2286000"/>
                <a:gridCol w="182880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Systemic Risk Control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Infrastructure &amp; Assurance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Control Area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External Driver /
Requirement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System Gap /
Exposure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Mitigation Protocol
(Soft Infrastructure)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Liability Avoidance /
Cost Benefit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Budget
Allocation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Data Integrity
(Scope 3)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Mandatory 3rd-Party
Verification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Unverified Upstream
Data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LEED Green Building Certification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Govt. regulation on embodied carbon disclosure; Lack of LCA data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Conduct LCA for key materials (Budget: $200K); Implement EPD system (Budget: $500K)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Supply Chain
Integrity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Traceability &amp;
Due Diligence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Tier-2 Visibility
Gap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1828800"/>
                <a:gridCol w="2560320"/>
                <a:gridCol w="2286000"/>
                <a:gridCol w="182880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Operational Resilience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Adaptive Capacity (Human &amp; Supply)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Resilience Unit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Physical/Tech
Stressor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Operational Impact
(Downtime Risk)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Adaptation Strategy
(Capacity Building)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Continuity Benefit
(ROI)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Budget
Allocation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Workforce
Adaptation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Thermal Stress /
New Process Risks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Productivity Loss
(-15% Forecast)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Occupational Health &amp; Safety Team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Shortage of skilled workers for green building techniques; Increased injury risk from new materials &amp; methods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Establish Green Construction Training Program (Budget: $1,500K); Implement AI-powered safety monitoring system; Partner with trade schools on apprenticeships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Value Chain
Security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Resource Competition
(Water/Power)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License to Operate
Revocation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Water &amp; Power Resilience Task Force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Disruptions to water &amp; electricity supply during extreme weather events; Project delays &amp; cost overruns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Invest in on-site water recycling &amp; storage infrastructure (Budget: $3,000K); Install backup renewable power generation; Collaborate with utilities on grid hardening &amp; demand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0</Words>
  <Application>Microsoft Office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geesheen wu</dc:creator>
  <cp:lastModifiedBy>geesheen wu</cp:lastModifiedBy>
  <cp:revision>4</cp:revision>
  <dcterms:created xsi:type="dcterms:W3CDTF">2025-12-15T12:30:24Z</dcterms:created>
  <dcterms:modified xsi:type="dcterms:W3CDTF">2025-12-16T15:08:40Z</dcterms:modified>
</cp:coreProperties>
</file>