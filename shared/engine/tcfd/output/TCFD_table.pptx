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253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751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64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361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9586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538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弧形 6">
            <a:extLst>
              <a:ext uri="{FF2B5EF4-FFF2-40B4-BE49-F238E27FC236}">
                <a16:creationId xmlns:a16="http://schemas.microsoft.com/office/drawing/2014/main" id="{4CA5A910-571F-75C2-BF35-26BA8FFDDC31}"/>
              </a:ext>
            </a:extLst>
          </p:cNvPr>
          <p:cNvSpPr/>
          <p:nvPr userDrawn="1"/>
        </p:nvSpPr>
        <p:spPr>
          <a:xfrm rot="9078736">
            <a:off x="9967899" y="-3091766"/>
            <a:ext cx="3657368" cy="4548434"/>
          </a:xfrm>
          <a:prstGeom prst="arc">
            <a:avLst>
              <a:gd name="adj1" fmla="val 15204947"/>
              <a:gd name="adj2" fmla="val 21537104"/>
            </a:avLst>
          </a:prstGeom>
          <a:ln w="587375">
            <a:solidFill>
              <a:schemeClr val="accent6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菱形 7">
            <a:extLst>
              <a:ext uri="{FF2B5EF4-FFF2-40B4-BE49-F238E27FC236}">
                <a16:creationId xmlns:a16="http://schemas.microsoft.com/office/drawing/2014/main" id="{6DEB5FF7-6D99-88D6-138A-1295A01D10EF}"/>
              </a:ext>
            </a:extLst>
          </p:cNvPr>
          <p:cNvSpPr/>
          <p:nvPr userDrawn="1"/>
        </p:nvSpPr>
        <p:spPr>
          <a:xfrm>
            <a:off x="11656541" y="1886465"/>
            <a:ext cx="280086" cy="337751"/>
          </a:xfrm>
          <a:prstGeom prst="diamon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菱形 8">
            <a:extLst>
              <a:ext uri="{FF2B5EF4-FFF2-40B4-BE49-F238E27FC236}">
                <a16:creationId xmlns:a16="http://schemas.microsoft.com/office/drawing/2014/main" id="{D7130504-BEA1-8D0C-83EB-3140F88CDFA6}"/>
              </a:ext>
            </a:extLst>
          </p:cNvPr>
          <p:cNvSpPr/>
          <p:nvPr userDrawn="1"/>
        </p:nvSpPr>
        <p:spPr>
          <a:xfrm>
            <a:off x="474823" y="5796571"/>
            <a:ext cx="280086" cy="337751"/>
          </a:xfrm>
          <a:prstGeom prst="diamond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912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3" r:id="rId2"/>
    <p:sldLayoutId id="2147483656" r:id="rId3"/>
    <p:sldLayoutId id="2147483658" r:id="rId4"/>
    <p:sldLayoutId id="2147483659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Climate-Related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Impacts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Transformation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Policy and
Regulation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Stricter hospital emission regulations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Operating cost increase by 50,000K JPY; Gross margin impact -3.1%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Implement internal carbon pricing (Budget: 8,000K JPY); Accelerate renewable energy procurement; Upgrade to energy-efficient medical equipment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 v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Green product
and technology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Competitor adoption of green hospital tech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Potential revenue loss of 150,000K JPY from key payers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R&amp;D investment in sustainable healthcare practices (Budget: 60,000K JPY); Obtain ISO 14001 certification; Collaborate with suppliers on Scope 3 reductions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Physical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Impacts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Acute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Extreme weather
events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Torrential rain causing flooding of basement medical storage &amp; backup power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Asset repair cost est. ¥25,000K; Medical supply loss ¥8,000K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Upgrade drainage system (Budget: ¥15,000K); Install submersible pumps &amp; watertight doors (Budget: ¥8,000K); Establish offsite backup storage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Chronic
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Changing weather
patterns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Increasing summer temperatures reducing HVAC efficiency &amp; patient comfort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Electricity cooling cost increase ¥12,000K/year; Potential revenue loss from lower bed occupancy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Upgrade to high-efficiency HVAC with heat recovery (Budget: ¥80,000K); Improve building insulation (Budget: ¥50,000K); Implement AI-based building management system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 Opportunities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Financial Benefits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Resource
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Production process
efficiency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Water treatment plant optimization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Cost savings of ¥25,000K/year from reduced waste disposal fees; ¥10,000K/year savings in water bills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Install autoclave sterilizer and shredder for on-site medical waste processing (Budget: ¥50,000K); Upgrade water treatment system with MBR and RO (Budget: ¥30,000K)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Energy
Source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Use of lower-emission
sources of energy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Switch to renewable energy PPA for purchased electricity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Energy cost reduction of ¥18,000K/year; Renewable energy subsidies of ¥5,000K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Install 500 kW rooftop solar array (Budget: ¥100,000K); Sign 10-year PPA for renewable energy (wind/solar) to cover 50% of electricity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822960"/>
                <a:gridCol w="2468880"/>
                <a:gridCol w="2468880"/>
                <a:gridCol w="192024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Climate Opportunities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Market Strategy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Climate
Change
Related Factor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Impact
Period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Description of Content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Potential Financial Impact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Adaption &amp; Response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Products &amp;
Services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Development of
low emission goods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Investment in energy efficient medical equipment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Telemedicine revenue growth of ¥50,000K; Electricity cost savings of ¥5,000K annually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Telemedicine platform R&amp;D (Budget: ¥20,000K); Procurement of low-energy MRI and CT scanners (CapEx: ¥80,000K)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Markets &amp;
Resilience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Access to new
markets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Long-term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Expansion into rural healthcare markets with solar-powered mobile clinics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Access to ¥100,000K government rural health subsidy; 10% market share in underserved regions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Solar retrofit of mobile clinic fleet (CapEx: ¥10,000K); Rural healthcare outreach program (Budget: ¥5,000K)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95097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914400"/>
                <a:gridCol w="228600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Metrics &amp; 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Performance Indicators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Metric
Category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Target
Timeframe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Current Progress
&amp; Status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Financial
Linkage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Action Plan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GHG Emissions
(Scope 1, 2, 3)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Emission Reduction
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Reduce Scope 1&amp;2 emissions by 40% by 2030 (vs. 2022)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Scope 1+2 emissions 349.27 tCO2e; Achieved 5% reduction in carbon intensity per patient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Transition to renewable electricity (52% by 2030); Implement energy efficiency measures (LED lighting, HVAC optimization)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Climate-Related
Targets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Water, Waste &amp;
Green Revenue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Short-term
and
medium-term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Achieve 60% Waste Recycling Rate by 2028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Current rate 45%; Total waste generated decreased 3% YoY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Improve waste segregation training; Partner with recycling vendors to expand accepted materials (Budget: ¥25,000K)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828800"/>
                <a:gridCol w="256032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Systemic Risk Control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Infrastructure &amp; Assurance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Control Area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External Driver /
Requirement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System Gap /
Exposure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Mitigation Protocol
(Soft Infrastructure)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Liability Avoidance /
Cost Benefit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Budget
Allocation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Data Integrity
(Scope 3)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Mandatory 3rd-Party
Verification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Unverified Upstream
Data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JCI Hospital Accreditation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Regulatory compliance; Gaps in waste management and infection control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Conduct gap assessment (Budget: ¥5,000K); Implement waste segregation and disposal system (Budget: ¥10,000K); Staff training on infection control (Budget: ¥2,000K)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Supply Chain
Integrity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Traceability &amp;
Due Diligence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Tier-2 Visibility
Gap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457200" y="9144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828800"/>
                <a:gridCol w="2560320"/>
                <a:gridCol w="2286000"/>
                <a:gridCol w="1828800"/>
              </a:tblGrid>
              <a:tr h="1028700"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Operational Resilience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Arial"/>
                        </a:rPr>
                        <a:t>Adaptive Capacity (Human &amp; Supply)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Resilience Unit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Physical/Tech
Stressor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Operational Impact
(Downtime Risk)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Adaptation Strategy
(Capacity Building)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Continuity Benefit
(ROI)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Budget
Allocation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FEFE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Workforce
Adaptation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Thermal Stress /
New Process Risks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Productivity Loss
(-15% Forecast)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Medical Staff Capability Development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Skill gap in climate-related illness treatment; Staff burnout 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Establish Climate Medicine Training Program (Budget: ¥12,000K); Mental health support initiatives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Value Chain
Security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Resource Competition
(Water/Power)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License to Operate
Revocation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Hospital Water &amp; Power Resilience Team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Disruption to water/power supply during disasters; Care delivery risk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Onsite water storage &amp; purification (Budget: ¥35,000K); Backup power generation capacity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geesheen wu</dc:creator>
  <cp:lastModifiedBy>geesheen wu</cp:lastModifiedBy>
  <cp:revision>4</cp:revision>
  <dcterms:created xsi:type="dcterms:W3CDTF">2025-12-15T12:30:24Z</dcterms:created>
  <dcterms:modified xsi:type="dcterms:W3CDTF">2025-12-16T15:08:40Z</dcterms:modified>
</cp:coreProperties>
</file>