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7"/>
    <p:sldId id="258" r:id="rId8"/>
    <p:sldId id="259" r:id="rId9"/>
    <p:sldId id="260" r:id="rId10"/>
    <p:sldId id="261" r:id="rId11"/>
    <p:sldId id="262" r:id="rId1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6" d="100"/>
          <a:sy n="66" d="100"/>
        </p:scale>
        <p:origin x="1253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751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66493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83612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9586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853821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弧形 6">
            <a:extLst>
              <a:ext uri="{FF2B5EF4-FFF2-40B4-BE49-F238E27FC236}">
                <a16:creationId xmlns:a16="http://schemas.microsoft.com/office/drawing/2014/main" id="{4CA5A910-571F-75C2-BF35-26BA8FFDDC31}"/>
              </a:ext>
            </a:extLst>
          </p:cNvPr>
          <p:cNvSpPr/>
          <p:nvPr userDrawn="1"/>
        </p:nvSpPr>
        <p:spPr>
          <a:xfrm rot="9078736">
            <a:off x="9967899" y="-3091766"/>
            <a:ext cx="3657368" cy="4548434"/>
          </a:xfrm>
          <a:prstGeom prst="arc">
            <a:avLst>
              <a:gd name="adj1" fmla="val 15204947"/>
              <a:gd name="adj2" fmla="val 21537104"/>
            </a:avLst>
          </a:prstGeom>
          <a:ln w="587375">
            <a:solidFill>
              <a:schemeClr val="accent6">
                <a:lumMod val="20000"/>
                <a:lumOff val="80000"/>
                <a:alpha val="60000"/>
              </a:schemeClr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菱形 7">
            <a:extLst>
              <a:ext uri="{FF2B5EF4-FFF2-40B4-BE49-F238E27FC236}">
                <a16:creationId xmlns:a16="http://schemas.microsoft.com/office/drawing/2014/main" id="{6DEB5FF7-6D99-88D6-138A-1295A01D10EF}"/>
              </a:ext>
            </a:extLst>
          </p:cNvPr>
          <p:cNvSpPr/>
          <p:nvPr userDrawn="1"/>
        </p:nvSpPr>
        <p:spPr>
          <a:xfrm>
            <a:off x="11656541" y="1886465"/>
            <a:ext cx="280086" cy="337751"/>
          </a:xfrm>
          <a:prstGeom prst="diamond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菱形 8">
            <a:extLst>
              <a:ext uri="{FF2B5EF4-FFF2-40B4-BE49-F238E27FC236}">
                <a16:creationId xmlns:a16="http://schemas.microsoft.com/office/drawing/2014/main" id="{D7130504-BEA1-8D0C-83EB-3140F88CDFA6}"/>
              </a:ext>
            </a:extLst>
          </p:cNvPr>
          <p:cNvSpPr/>
          <p:nvPr userDrawn="1"/>
        </p:nvSpPr>
        <p:spPr>
          <a:xfrm>
            <a:off x="474823" y="5796571"/>
            <a:ext cx="280086" cy="337751"/>
          </a:xfrm>
          <a:prstGeom prst="diamond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49129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3" r:id="rId2"/>
    <p:sldLayoutId id="2147483656" r:id="rId3"/>
    <p:sldLayoutId id="2147483658" r:id="rId4"/>
    <p:sldLayoutId id="2147483659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457200" y="731520"/>
          <a:ext cx="969264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188720"/>
                <a:gridCol w="822960"/>
                <a:gridCol w="2468880"/>
                <a:gridCol w="2468880"/>
                <a:gridCol w="1920240"/>
              </a:tblGrid>
              <a:tr h="883920"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Climate-Related Risks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Financial Impacts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Climate
Change
Related Factor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Impact
Period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Description of Content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Potential Financial Impact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Adaption &amp; Response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</a:tr>
              <a:tr h="883920">
                <a:tc rowSpan="2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Transformation
Risk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Policy and
Regulation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Short-term
and
medium-term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Mandatory emission reduction of 5% annually from 2024 baseline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Operating cost increase by 13,971K JPY in 2025, up to 30,456K JPY in 2030; Gross margin impact -0.9% to -1.9%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Implement internal carbon shadow price of 8000 JPY/tCO2e (Budget: 5,000K JPY); Switch to 50% renewable electricity by 2028 (Budget: 25,000K JPY)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883920">
                <a:tc v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Green product
and technology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Short-term
and
medium-term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Competitors adopting mass timber &amp; green concrete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Potential revenue loss of 319,680K JPY (20%) from top 5 clients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Invest 95,904K JPY (6% of revenue) in low-carbon construction material R&amp;D; Commit to SBTi 1.5°C target &amp; net-zero by 2050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883920">
                <a:tc rowSpan="2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Transformation
Risk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Market
Disruption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Medium-term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883920">
                <a:tc v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Reputation
Risk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Long-term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457200" y="914400"/>
          <a:ext cx="96926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188720"/>
                <a:gridCol w="822960"/>
                <a:gridCol w="2468880"/>
                <a:gridCol w="2468880"/>
                <a:gridCol w="1920240"/>
              </a:tblGrid>
              <a:tr h="1028700"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Physical Risks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Financial Impacts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Climate
Change
Related Factor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Impact
Period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Description of Content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Potential Financial Impact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Adaption &amp; Response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Acute
Risk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Extreme weather
events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Short-term
and
medium-term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Heatwaves impacting worker health &amp; productivity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Asset repair cost est. ¥50,000K; 10% productivity loss equiv. to ¥20,000K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Invest in flood defenses (Budget: ¥15,000K); Implement heat stress mgmt. program (Budget: ¥5,000K)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Chronic
Risk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Changing weather
patterns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Long-term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Increased AC demand from higher temps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Project delays cost ¥30,000K; Electricity cost increase ¥10,000K/year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Prioritize inland projects (Revenue impact: ¥100,000K); Upgrade to high-efficiency HVAC (Budget: ¥25,000K)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457200" y="914400"/>
          <a:ext cx="96926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188720"/>
                <a:gridCol w="822960"/>
                <a:gridCol w="2468880"/>
                <a:gridCol w="2468880"/>
                <a:gridCol w="1920240"/>
              </a:tblGrid>
              <a:tr h="1028700"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Climate Opportunities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Financial Benefits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Climate
Change
Related Factor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Impact
Period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Description of Content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Potential Financial Impact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Adaption &amp; Response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Resource
Efficiency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Production process
efficiency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Short-term
and
medium-term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On-site recycling of demolition waste into aggregates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Water cost savings of ¥12,000K/year; ¥5,000K/year savings in virgin aggregate purchases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Install rainwater tanks and treatment (Budget: ¥20,000K); Mobile waste crusher and sorter (Budget: ¥30,000K)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Energy
Source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Use of lower-emission
sources of energy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Short-term
and
medium-term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Transition to green power via onsite solar PV and renewable energy PPA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Electricity cost reduction of ¥18,000K/year; Carbon tax savings of ¥2,500K/year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Install 500 kW rooftop solar system (Budget: ¥100,000K); Sign 10-year wind/solar PPA for 50% of demand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457200" y="914400"/>
          <a:ext cx="96926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188720"/>
                <a:gridCol w="822960"/>
                <a:gridCol w="2468880"/>
                <a:gridCol w="2468880"/>
                <a:gridCol w="1920240"/>
              </a:tblGrid>
              <a:tr h="1028700"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Climate Opportunities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Market Strategy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Climate
Change
Related Factor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Impact
Period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Description of Content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Potential Financial Impact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Adaption &amp; Response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Products &amp;
Services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Development of
low emission goods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Short-term
and
medium-term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Green building materials &amp; techniques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New revenue stream of ¥50,000K; 5% market share in green construction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R&amp;D for carbon-sequestering concrete (Budget: ¥10,000K); Sustainable construction training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Markets &amp;
Resilience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Access to new
markets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Long-term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457200" y="914400"/>
          <a:ext cx="95097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97280"/>
                <a:gridCol w="914400"/>
                <a:gridCol w="2286000"/>
                <a:gridCol w="2286000"/>
                <a:gridCol w="1828800"/>
              </a:tblGrid>
              <a:tr h="1028700"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Metrics &amp; Targets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Performance Indicators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Metric
Category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Target
Timeframe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Current Progress
&amp; Status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Financial
Linkage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Action Plan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GHG Emissions
(Scope 1, 2, 3)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Emission Reduction
Targets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Short-term
and
medium-term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Reduce Scope 1&amp;2 by 40% by 2030 (Base year 2022)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Scope 1: 25.4 tCO2e; Scope 2: 254.02 tCO2e; Total: 279.42 tCO2e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Electrify construction equipment; Procure renewable electricity; Improve energy efficiency of offices &amp; sites (Budget: ¥50,000K)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Climate-Related
Targets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Water, Waste &amp;
Green Revenue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Short-term
and
medium-term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Achieve 95% Construction Waste Recycling Rate by 2028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Current rate 80%; Waste intensity decreased 3% YoY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Partner with waste mgmt vendors; Modular &amp; prefab construction; Train workers on waste sorting (Budget: ¥25,000K)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457200" y="91440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371600"/>
                <a:gridCol w="1828800"/>
                <a:gridCol w="2560320"/>
                <a:gridCol w="2286000"/>
                <a:gridCol w="1828800"/>
              </a:tblGrid>
              <a:tr h="1028700"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Systemic Risk Control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Infrastructure &amp; Assurance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Control Area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External Driver /
Requirement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System Gap /
Exposure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Mitigation Protocol
(Soft Infrastructure)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Liability Avoidance /
Cost Benefit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Budget
Allocation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Data Integrity
(Scope 3)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Mandatory 3rd-Party
Verification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Unverified Upstream
Data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LEED v4 Building Certification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Client expectation for Green Building; Current gap in carbon tracking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Implement ESG Data Management System (Budget: ¥10,000K); Upskill project managers on LEED v4 (Budget: ¥5,000K)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Supply Chain
Integrity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Traceability &amp;
Due Diligence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Tier-2 Visibility
Gap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457200" y="91440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371600"/>
                <a:gridCol w="1828800"/>
                <a:gridCol w="2560320"/>
                <a:gridCol w="2286000"/>
                <a:gridCol w="1828800"/>
              </a:tblGrid>
              <a:tr h="1028700"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Operational Resilience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Adaptive Capacity (Human &amp; Supply)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Resilience Unit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Physical/Tech
Stressor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Operational Impact
(Downtime Risk)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Adaptation Strategy
(Capacity Building)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Continuity Benefit
(ROI)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Budget
Allocation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Workforce
Adaptation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Thermal Stress /
New Process Risks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Productivity Loss
(-15% Forecast)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Construction Safety Task Force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Shortage of skilled labor for new green building techniques; Fall &amp; heat stress risk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Partner with trade schools for apprenticeship program (Budget: ¥15,000K); Implement wearable tech for real-time safety monitoring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Value Chain
Security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Resource Competition
(Water/Power)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License to Operate
Revocation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Water &amp; Energy Resilience Team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Disruption to water supply during extreme weather events; Power outages impacting project timelines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Invest in onsite water storage and treatment (Budget: ¥30,000K); Install backup renewable power systems at key sites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0</Words>
  <Application>Microsoft Office PowerPoint</Application>
  <PresentationFormat>寬螢幕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4" baseType="lpstr">
      <vt:lpstr>Aptos</vt:lpstr>
      <vt:lpstr>Arial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geesheen wu</dc:creator>
  <cp:lastModifiedBy>geesheen wu</cp:lastModifiedBy>
  <cp:revision>4</cp:revision>
  <dcterms:created xsi:type="dcterms:W3CDTF">2025-12-15T12:30:24Z</dcterms:created>
  <dcterms:modified xsi:type="dcterms:W3CDTF">2025-12-16T15:08:40Z</dcterms:modified>
</cp:coreProperties>
</file>